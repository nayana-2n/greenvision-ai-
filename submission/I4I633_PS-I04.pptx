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3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>
                <a:solidFill>
                  <a:srgbClr val="3FA34D"/>
                </a:solidFill>
                <a:latin typeface="Segoe UI"/>
              </a:rPr>
              <a:t>GreenVision.AI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AI-Powered Environmental Intelligence for Cities, Industries &amp;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AAAACC"/>
                </a:solidFill>
                <a:latin typeface="Segoe UI"/>
              </a:rPr>
              <a:t>Turning environmental data into green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480560"/>
            <a:ext cx="9235440" cy="141732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645152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Team ID: I4I 633   |   Team: Hacksmith   |   Leader: Nayana N   |   PS ID: PS-I04 (Software)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047488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E6E6E6"/>
                </a:solidFill>
                <a:latin typeface="Segoe UI"/>
              </a:rPr>
              <a:t>J.S.S. Academy of Technical Education, Bengaluru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440680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AAAACC"/>
                </a:solidFill>
                <a:latin typeface="Segoe UI"/>
              </a:rPr>
              <a:t>Smart India Hackathon 2026  |  Problem Statement Category: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A34D"/>
                </a:solidFill>
                <a:latin typeface="Segoe UI"/>
              </a:rPr>
              <a:t>PROBLEM &amp;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41248"/>
            <a:ext cx="1280160" cy="63500"/>
          </a:xfrm>
          <a:prstGeom prst="rect">
            <a:avLst/>
          </a:prstGeom>
          <a:solidFill>
            <a:srgbClr val="3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FA34D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Indian cities lose 1.5-3% tree cover per decade (ISFR 2023)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No real-time tool to measure urban green cover from imagery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Municipalities plan plantations without data-driven priority mapping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Industrial sites lack green buffer compliance assessment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Citizens cannot assess or act on local environmental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FA8D8"/>
                </a:solidFill>
                <a:latin typeface="Segoe UI"/>
              </a:rP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5440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AI-GIS platform: upload imagery -&gt; environmental diagnosis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3 distinct workspaces: Municipal / Industrial / Citizen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ML models: canopy segmentation, tree detection, scene classification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Location-conditioned species engine (Open-Meteo weather/AQI/soil)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Conversational AI assistant grounded in real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074920"/>
            <a:ext cx="2212848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202936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FA34D"/>
                </a:solidFill>
                <a:latin typeface="Segoe UI"/>
              </a:rPr>
              <a:t>7.92%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96712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AAACC"/>
                </a:solidFill>
                <a:latin typeface="Segoe UI"/>
              </a:rPr>
              <a:t>Canopy Cover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5074920"/>
            <a:ext cx="2212848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5202936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FA34D"/>
                </a:solidFill>
                <a:latin typeface="Segoe UI"/>
              </a:rPr>
              <a:t>156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5696712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AAACC"/>
                </a:solidFill>
                <a:latin typeface="Segoe UI"/>
              </a:rPr>
              <a:t>Trees Detected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5074920"/>
            <a:ext cx="2212848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8344" y="5202936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FA34D"/>
                </a:solidFill>
                <a:latin typeface="Segoe UI"/>
              </a:rPr>
              <a:t>1,026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5696712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AAACC"/>
                </a:solidFill>
                <a:latin typeface="Segoe UI"/>
              </a:rPr>
              <a:t>Trees Needed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6056" y="5074920"/>
            <a:ext cx="2212848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6056" y="5202936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FA34D"/>
                </a:solidFill>
                <a:latin typeface="Segoe UI"/>
              </a:rPr>
              <a:t>2.2 t/yr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5696712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AAACC"/>
                </a:solidFill>
                <a:latin typeface="Segoe UI"/>
              </a:rPr>
              <a:t>CO2 Offset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73768" y="5074920"/>
            <a:ext cx="2212848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8" y="5202936"/>
            <a:ext cx="22128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FA34D"/>
                </a:solidFill>
                <a:latin typeface="Segoe UI"/>
              </a:rPr>
              <a:t>35/35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5696712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AAACC"/>
                </a:solidFill>
                <a:latin typeface="Segoe UI"/>
              </a:rPr>
              <a:t>Tests Passed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GreenVision.AI  |  Hacksmith  |  I4I 633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A34D"/>
                </a:solidFill>
                <a:latin typeface="Segoe UI"/>
              </a:rPr>
              <a:t>THREE WORKSPACES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41248"/>
            <a:ext cx="1280160" cy="63500"/>
          </a:xfrm>
          <a:prstGeom prst="rect">
            <a:avLst/>
          </a:prstGeom>
          <a:solidFill>
            <a:srgbClr val="3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AAACC"/>
                </a:solidFill>
                <a:latin typeface="Segoe UI"/>
              </a:rPr>
              <a:t>One platform - three tailored experiences for every stakeholder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3703320" cy="47091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3703320" cy="76200"/>
          </a:xfrm>
          <a:prstGeom prst="rect">
            <a:avLst/>
          </a:prstGeom>
          <a:solidFill>
            <a:srgbClr val="3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55064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3FA34D"/>
                </a:solidFill>
                <a:latin typeface="Segoe UI"/>
              </a:rPr>
              <a:t>MUNICIPAL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67128"/>
            <a:ext cx="33192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Upload city/ward imagery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AI canopy detection &amp; analysis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60% green cover target tracking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Planting gap quantification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GIS map with priority zones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Carbon sequestration &amp; oxygen output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Exportable assessment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508760"/>
            <a:ext cx="3703320" cy="47091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508760"/>
            <a:ext cx="3703320" cy="76200"/>
          </a:xfrm>
          <a:prstGeom prst="rect">
            <a:avLst/>
          </a:prstGeom>
          <a:solidFill>
            <a:srgbClr val="4F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655064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4FA8D8"/>
                </a:solidFill>
                <a:latin typeface="Segoe UI"/>
              </a:rPr>
              <a:t>INDUSTRIAL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2167128"/>
            <a:ext cx="33192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Site green buffer assessment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Regulatory compliance status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Buffer zone planning support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Pollution-tolerant species advisory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Green investment estimates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ESG reporting metrics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Maintenance cost projection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6" y="1508760"/>
            <a:ext cx="3703320" cy="47091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6" y="1508760"/>
            <a:ext cx="3703320" cy="7620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1655064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B74D"/>
                </a:solidFill>
                <a:latin typeface="Segoe UI"/>
              </a:rPr>
              <a:t>CITIZEN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167128"/>
            <a:ext cx="331927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Location-aware environmental profile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Interactive Leaflet map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Live weather / AQI / soil data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AI chatbot advisor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Natural conversation interface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Green Points rewards system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250">
                <a:solidFill>
                  <a:srgbClr val="E6E6E6"/>
                </a:solidFill>
                <a:latin typeface="Segoe UI"/>
              </a:rPr>
              <a:t>Community leaderboard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GreenVision.AI  |  Hacksmith  |  I4I 633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A34D"/>
                </a:solidFill>
                <a:latin typeface="Segoe UI"/>
              </a:rPr>
              <a:t>GREENVISION AI - CONVERSATIONAL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41248"/>
            <a:ext cx="1280160" cy="63500"/>
          </a:xfrm>
          <a:prstGeom prst="rect">
            <a:avLst/>
          </a:prstGeom>
          <a:solidFill>
            <a:srgbClr val="3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AAACC"/>
                </a:solidFill>
                <a:latin typeface="Segoe UI"/>
              </a:rPr>
              <a:t>Not a keyword matcher. A context-aware environmental advisor.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5532120" cy="2121408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554480"/>
            <a:ext cx="52029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A8D8"/>
                </a:solidFill>
                <a:latin typeface="Segoe UI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810512"/>
            <a:ext cx="52029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FFFFFF"/>
                </a:solidFill>
                <a:latin typeface="Segoe UI"/>
              </a:rPr>
              <a:t>"Hi, my name is Nayana"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395728"/>
            <a:ext cx="52029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FA34D"/>
                </a:solidFill>
                <a:latin typeface="Segoe UI"/>
              </a:rPr>
              <a:t>GREENVISION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651760"/>
            <a:ext cx="520293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E6E6E6"/>
                </a:solidFill>
                <a:latin typeface="Segoe UI"/>
              </a:rPr>
              <a:t>"Hey Nayana! I'm GreenVision, your environmental assistant. Ask me about green cover, trees, or your area's air quality."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532120" cy="2121408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54480"/>
            <a:ext cx="52029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A8D8"/>
                </a:solidFill>
                <a:latin typeface="Segoe UI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810512"/>
            <a:ext cx="52029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FFFFFF"/>
                </a:solidFill>
                <a:latin typeface="Segoe UI"/>
              </a:rPr>
              <a:t>"What trees are good for my area?"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395728"/>
            <a:ext cx="52029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FA34D"/>
                </a:solidFill>
                <a:latin typeface="Segoe UI"/>
              </a:rPr>
              <a:t>GREENVISION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651760"/>
            <a:ext cx="520293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E6E6E6"/>
                </a:solidFill>
                <a:latin typeface="Segoe UI"/>
              </a:rPr>
              <a:t>"Based on your location in Bengaluru and its climate/soil profile, top match: 1. Neem (82/100) - drought-tolerant, air-purifying..."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03320"/>
            <a:ext cx="5532120" cy="2121408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794760"/>
            <a:ext cx="52029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A8D8"/>
                </a:solidFill>
                <a:latin typeface="Segoe UI"/>
              </a:rPr>
              <a:t>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050792"/>
            <a:ext cx="52029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FFFFFF"/>
                </a:solidFill>
                <a:latin typeface="Segoe UI"/>
              </a:rPr>
              <a:t>"Give me another option"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636008"/>
            <a:ext cx="52029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FA34D"/>
                </a:solidFill>
                <a:latin typeface="Segoe UI"/>
              </a:rPr>
              <a:t>GREENVISION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4892040"/>
            <a:ext cx="520293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E6E6E6"/>
                </a:solidFill>
                <a:latin typeface="Segoe UI"/>
              </a:rPr>
              <a:t>"Here are other options suited to Bengaluru: 1. Pongamia (75/100) - hardy canopy native; 2. Indian Laurel (73/100)..."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03320"/>
            <a:ext cx="5532120" cy="2121408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794760"/>
            <a:ext cx="52029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A8D8"/>
                </a:solidFill>
                <a:latin typeface="Segoe UI"/>
              </a:rP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4050792"/>
            <a:ext cx="52029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FFFFFF"/>
                </a:solidFill>
                <a:latin typeface="Segoe UI"/>
              </a:rPr>
              <a:t>"How many trees do I need?"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636008"/>
            <a:ext cx="52029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FA34D"/>
                </a:solidFill>
                <a:latin typeface="Segoe UI"/>
              </a:rPr>
              <a:t>GREENVISION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892040"/>
            <a:ext cx="520293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E6E6E6"/>
                </a:solidFill>
                <a:latin typeface="Segoe UI"/>
              </a:rPr>
              <a:t>"Your ward currently has 156 trees (7.92% canopy). About 1,026 additional trees to reach the 60% target."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943600"/>
            <a:ext cx="11365992" cy="457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0076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B74D"/>
                </a:solidFill>
                <a:latin typeface="Segoe UI"/>
              </a:rPr>
              <a:t>Session memory   |   Name-aware greetings   |   Follow-up context   |   Species exclusion   |   Cost follow-ups   |   Honest 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GreenVision.AI  |  Hacksmith  |  I4I 633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A34D"/>
                </a:solidFill>
                <a:latin typeface="Segoe UI"/>
              </a:rPr>
              <a:t>ORGANIZATION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41248"/>
            <a:ext cx="1280160" cy="63500"/>
          </a:xfrm>
          <a:prstGeom prst="rect">
            <a:avLst/>
          </a:prstGeom>
          <a:solidFill>
            <a:srgbClr val="3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AAACC"/>
                </a:solidFill>
                <a:latin typeface="Segoe UI"/>
              </a:rPr>
              <a:t>Every contribution is attributed - individuals build reputations, organizations climb rankings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FA8D8"/>
                </a:solidFill>
                <a:latin typeface="Segoe UI"/>
              </a:rPr>
              <a:t>CONTRIBUTION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00">
                <a:solidFill>
                  <a:srgbClr val="E6E6E6"/>
                </a:solidFill>
                <a:latin typeface="Segoe UI"/>
              </a:rPr>
              <a:t>6 org types: Individual, Company, College, School, NGO, Community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00">
                <a:solidFill>
                  <a:srgbClr val="E6E6E6"/>
                </a:solidFill>
                <a:latin typeface="Segoe UI"/>
              </a:rPr>
              <a:t>Organization stored with each contribution record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00">
                <a:solidFill>
                  <a:srgbClr val="E6E6E6"/>
                </a:solidFill>
                <a:latin typeface="Segoe UI"/>
              </a:rPr>
              <a:t>Backend aggregates points by organization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00">
                <a:solidFill>
                  <a:srgbClr val="E6E6E6"/>
                </a:solidFill>
                <a:latin typeface="Segoe UI"/>
              </a:rPr>
              <a:t>4 action types earn Green Points: plant, adopt, verify,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3716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FA34D"/>
                </a:solidFill>
                <a:latin typeface="Segoe UI"/>
              </a:rPr>
              <a:t>LEADERBOARD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5440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00">
                <a:solidFill>
                  <a:srgbClr val="E6E6E6"/>
                </a:solidFill>
                <a:latin typeface="Segoe UI"/>
              </a:rPr>
              <a:t>Individual rankings with podium animation for top 3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00">
                <a:solidFill>
                  <a:srgbClr val="E6E6E6"/>
                </a:solidFill>
                <a:latin typeface="Segoe UI"/>
              </a:rPr>
              <a:t>Organization aggregation: e.g. Infosys (24 participants, 8,700 pts)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00">
                <a:solidFill>
                  <a:srgbClr val="E6E6E6"/>
                </a:solidFill>
                <a:latin typeface="Segoe UI"/>
              </a:rPr>
              <a:t>Dedicated tabs: Companies, Colleges, NGOs, Communities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00">
                <a:solidFill>
                  <a:srgbClr val="E6E6E6"/>
                </a:solidFill>
                <a:latin typeface="Segoe UI"/>
              </a:rPr>
              <a:t>Transparent scoring visible to all participants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212080"/>
            <a:ext cx="11183112" cy="7772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58384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B74D"/>
                </a:solidFill>
                <a:latin typeface="Segoe UI"/>
              </a:rPr>
              <a:t>"Green Points are a participation score, not a CO2/O2 measurement."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GreenVision.AI  |  Hacksmith  |  I4I 633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A34D"/>
                </a:solidFill>
                <a:latin typeface="Segoe UI"/>
              </a:rP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41248"/>
            <a:ext cx="1280160" cy="63500"/>
          </a:xfrm>
          <a:prstGeom prst="rect">
            <a:avLst/>
          </a:prstGeom>
          <a:solidFill>
            <a:srgbClr val="3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AAACC"/>
                </a:solidFill>
                <a:latin typeface="Segoe UI"/>
              </a:rPr>
              <a:t>End-to-end pipeline from imagery to actionable insight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46888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848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AAACC"/>
                </a:solidFill>
                <a:latin typeface="Segoe UI"/>
              </a:rPr>
              <a:t>React + Leaflet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44368" y="1938528"/>
            <a:ext cx="384048" cy="274320"/>
          </a:xfrm>
          <a:prstGeom prst="rightArrow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46888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71907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Flask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848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AAACC"/>
                </a:solidFill>
                <a:latin typeface="Segoe UI"/>
              </a:rPr>
              <a:t>REST backend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16168" y="1938528"/>
            <a:ext cx="384048" cy="274320"/>
          </a:xfrm>
          <a:prstGeom prst="rightArrow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554480"/>
            <a:ext cx="246888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1907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ML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848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AAACC"/>
                </a:solidFill>
                <a:latin typeface="Segoe UI"/>
              </a:rPr>
              <a:t>YOLOv8 + U-Net + Scene Classifier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87968" y="1938528"/>
            <a:ext cx="384048" cy="274320"/>
          </a:xfrm>
          <a:prstGeom prst="rightArrow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0" y="1554480"/>
            <a:ext cx="2468880" cy="105156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4F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71907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Open-Meteo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0848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AAACC"/>
                </a:solidFill>
                <a:latin typeface="Segoe UI"/>
              </a:rPr>
              <a:t>Weather / AQI / Soil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063240"/>
            <a:ext cx="2011680" cy="512064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1546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FA34D"/>
                </a:solidFill>
                <a:latin typeface="Segoe UI"/>
              </a:rPr>
              <a:t>FRONTEND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3063240"/>
            <a:ext cx="9235440" cy="512064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3154680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6E6E6"/>
                </a:solidFill>
                <a:latin typeface="Segoe UI"/>
              </a:rPr>
              <a:t>React 19  |  Vite  |  TailwindCSS  |  React-Leaflet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685032"/>
            <a:ext cx="2011680" cy="512064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7647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FA8D8"/>
                </a:solidFill>
                <a:latin typeface="Segoe UI"/>
              </a:rPr>
              <a:t>BACKEND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3685032"/>
            <a:ext cx="9235440" cy="512064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80" y="3776472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6E6E6"/>
                </a:solidFill>
                <a:latin typeface="Segoe UI"/>
              </a:rPr>
              <a:t>Flask  |  Python 3.11  |  PyTorch 2.2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306824"/>
            <a:ext cx="2011680" cy="512064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398264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FA34D"/>
                </a:solidFill>
                <a:latin typeface="Segoe UI"/>
              </a:rPr>
              <a:t>ML MODELS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4600" y="4306824"/>
            <a:ext cx="9235440" cy="512064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4398264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6E6E6"/>
                </a:solidFill>
                <a:latin typeface="Segoe UI"/>
              </a:rPr>
              <a:t>YOLOv8 (tree detection)  |  U-Net (canopy segmentation)  |  Scene classifier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928616"/>
            <a:ext cx="2011680" cy="512064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020056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FA8D8"/>
                </a:solidFill>
                <a:latin typeface="Segoe UI"/>
              </a:rPr>
              <a:t>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4600" y="4928616"/>
            <a:ext cx="9235440" cy="512064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97480" y="5020056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6E6E6"/>
                </a:solidFill>
                <a:latin typeface="Segoe UI"/>
              </a:rPr>
              <a:t>Open-Meteo (weather, AQI, soil, elevation)  |  Nominatim (geocoding)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550408"/>
            <a:ext cx="2011680" cy="512064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64184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FA34D"/>
                </a:solidFill>
                <a:latin typeface="Segoe UI"/>
              </a:rPr>
              <a:t>STORAGE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14600" y="5550408"/>
            <a:ext cx="9235440" cy="512064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5641848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6E6E6"/>
                </a:solidFill>
                <a:latin typeface="Segoe UI"/>
              </a:rPr>
              <a:t>Flat JSON (demo-grade)  |  localStorage for 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GreenVision.AI  |  Hacksmith  |  I4I 633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A34D"/>
                </a:solidFill>
                <a:latin typeface="Segoe UI"/>
              </a:rPr>
              <a:t>IMPACT &amp; 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41248"/>
            <a:ext cx="1280160" cy="63500"/>
          </a:xfrm>
          <a:prstGeom prst="rect">
            <a:avLst/>
          </a:prstGeom>
          <a:solidFill>
            <a:srgbClr val="3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11365992" cy="2377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1365992" cy="76200"/>
          </a:xfrm>
          <a:prstGeom prst="rect">
            <a:avLst/>
          </a:prstGeom>
          <a:solidFill>
            <a:srgbClr val="3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FA34D"/>
                </a:solidFill>
                <a:latin typeface="Segoe UI"/>
              </a:rP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350">
                <a:solidFill>
                  <a:srgbClr val="E6E6E6"/>
                </a:solidFill>
                <a:latin typeface="Segoe UI"/>
              </a:rPr>
              <a:t>Helps municipalities understand environmental health of every neighborhood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350">
                <a:solidFill>
                  <a:srgbClr val="E6E6E6"/>
                </a:solidFill>
                <a:latin typeface="Segoe UI"/>
              </a:rPr>
              <a:t>Identifies areas with low green cover, high heat, and poor air quality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350">
                <a:solidFill>
                  <a:srgbClr val="E6E6E6"/>
                </a:solidFill>
                <a:latin typeface="Segoe UI"/>
              </a:rPr>
              <a:t>Enables data-driven plantation decisions - right place, right species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350">
                <a:solidFill>
                  <a:srgbClr val="E6E6E6"/>
                </a:solidFill>
                <a:latin typeface="Segoe UI"/>
              </a:rPr>
              <a:t>Creates community engagement through Green Champions and leaderboards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886200"/>
            <a:ext cx="11365992" cy="237744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886200"/>
            <a:ext cx="11365992" cy="76200"/>
          </a:xfrm>
          <a:prstGeom prst="rect">
            <a:avLst/>
          </a:prstGeom>
          <a:solidFill>
            <a:srgbClr val="4F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50791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FA8D8"/>
                </a:solidFill>
                <a:latin typeface="Segoe UI"/>
              </a:rPr>
              <a:t>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07992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350">
                <a:solidFill>
                  <a:srgbClr val="E6E6E6"/>
                </a:solidFill>
                <a:latin typeface="Segoe UI"/>
              </a:rPr>
              <a:t>Uses readily available satellite/drone imagery and open datasets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350">
                <a:solidFill>
                  <a:srgbClr val="E6E6E6"/>
                </a:solidFill>
                <a:latin typeface="Segoe UI"/>
              </a:rPr>
              <a:t>Built on scalable, proven AI, GIS, and web technologies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350">
                <a:solidFill>
                  <a:srgbClr val="E6E6E6"/>
                </a:solidFill>
                <a:latin typeface="Segoe UI"/>
              </a:rPr>
              <a:t>No specialized hardware dependency - runs on commodity infrastructure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350">
                <a:solidFill>
                  <a:srgbClr val="E6E6E6"/>
                </a:solidFill>
                <a:latin typeface="Segoe UI"/>
              </a:rPr>
              <a:t>Supports phased deployment from ward level to full city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GreenVision.AI  |  Hacksmith  |  I4I 633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FA34D"/>
                </a:solidFill>
                <a:latin typeface="Segoe UI"/>
              </a:rPr>
              <a:t>FUTURE ROADMAP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41248"/>
            <a:ext cx="1280160" cy="63500"/>
          </a:xfrm>
          <a:prstGeom prst="rect">
            <a:avLst/>
          </a:prstGeom>
          <a:solidFill>
            <a:srgbClr val="3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FA34D"/>
                </a:solidFill>
                <a:latin typeface="Segoe UI"/>
              </a:rPr>
              <a:t>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Pollutant dispersion model for industrial mode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Historical trend analysis (multi-temporal comparison)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Account system with verified identity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Mobile app for field verification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Integration with municipal GIS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8016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FA8D8"/>
                </a:solidFill>
                <a:latin typeface="Segoe UI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5440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Smart Cities Mission (MoHUA)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ISRO Bhuvan Geoportal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Forest Survey of India (ISFR)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Open-Meteo API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3FA34D"/>
                </a:solidFill>
                <a:latin typeface="Segoe UI"/>
              </a:rPr>
              <a:t>▪  </a:t>
            </a:r>
            <a:r>
              <a:rPr sz="1450">
                <a:solidFill>
                  <a:srgbClr val="E6E6E6"/>
                </a:solidFill>
                <a:latin typeface="Segoe UI"/>
              </a:rPr>
              <a:t>YOLOv8 / Ultralytics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623560"/>
            <a:ext cx="11183112" cy="640080"/>
          </a:xfrm>
          <a:prstGeom prst="roundRect">
            <a:avLst/>
          </a:prstGeom>
          <a:solidFill>
            <a:srgbClr val="24243E"/>
          </a:solidFill>
          <a:ln w="12700">
            <a:solidFill>
              <a:srgbClr val="3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3328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3FA34D"/>
                </a:solidFill>
                <a:latin typeface="Segoe UI"/>
              </a:rPr>
              <a:t>GreenVision.AI - Turning environmental data into green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GreenVision.AI  |  Hacksmith  |  I4I 633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AAAC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